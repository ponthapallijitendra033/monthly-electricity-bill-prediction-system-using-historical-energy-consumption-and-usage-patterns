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.png"/><Relationship Id="rId14" Type="http://schemas.openxmlformats.org/officeDocument/2006/relationships/image" Target="../media/image-9-2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Monthly Electricity Bill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Using historical energy consumption and usage patterns to forecast future electricity costs — empowering smarter financial planning and sustainable energy decisions.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1327175" cy="215354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75806"/>
            <a:ext cx="161426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94136" y="3433316"/>
            <a:ext cx="1504355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79191" y="3475806"/>
            <a:ext cx="179144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PREDICTIVE ANALYTICS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69332" y="3433316"/>
            <a:ext cx="1461641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54388" y="3475806"/>
            <a:ext cx="174873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ENERGY INTELLIGENCE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3983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Problem With Traditional Billing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25119" y="1491779"/>
            <a:ext cx="2294855" cy="1866826"/>
          </a:xfrm>
          <a:prstGeom prst="roundRect">
            <a:avLst>
              <a:gd name="adj" fmla="val 6621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4062413" y="1629073"/>
            <a:ext cx="20202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Rising Costs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2413" y="1923380"/>
            <a:ext cx="2020267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Global electricity prices have climbed steadily, with household consumption growing due to increased appliance usage and climate-driven demand.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52952" y="1491779"/>
            <a:ext cx="2294930" cy="1866826"/>
          </a:xfrm>
          <a:prstGeom prst="roundRect">
            <a:avLst>
              <a:gd name="adj" fmla="val 6621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6490246" y="1629073"/>
            <a:ext cx="20203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Reactive Billing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0246" y="1923380"/>
            <a:ext cx="2020342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Consumers receive bills only after electricity has been used — making it nearly impossible to estimate costs, budget accurately, or adjust consumption in time.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3491582"/>
            <a:ext cx="4722763" cy="1217861"/>
          </a:xfrm>
          <a:prstGeom prst="roundRect">
            <a:avLst>
              <a:gd name="adj" fmla="val 10149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4062413" y="3628876"/>
            <a:ext cx="44481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 Predictive Insight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2413" y="3923184"/>
            <a:ext cx="444817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Traditional systems lack forward-looking analytics, leaving households without tools to plan expenses or adopt energy-saving practices proactively.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2529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Proposed Solution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29816"/>
            <a:ext cx="5205933" cy="29282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1580" y="2110680"/>
            <a:ext cx="2680990" cy="766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leverages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machine learning and historical consumption data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predict monthly electricity bills before they are issued — transforming reactive billing into proactive energy management.</a:t>
            </a:r>
            <a:endParaRPr lang="en-US" sz="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823" y="4148324"/>
            <a:ext cx="162744" cy="162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8767" y="4145012"/>
            <a:ext cx="229537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Collects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48767" y="4364385"/>
            <a:ext cx="229537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Usage records, appliance patterns, seasonal data, occupancy info, and tariff rates.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8655" y="4148324"/>
            <a:ext cx="162744" cy="162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00599" y="4145012"/>
            <a:ext cx="229537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Analyzes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3600599" y="4364385"/>
            <a:ext cx="229537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Historical trends and consumption anomalies using regression models.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0487" y="4148324"/>
            <a:ext cx="162744" cy="162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52431" y="4145012"/>
            <a:ext cx="229537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Predicts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6352431" y="4364385"/>
            <a:ext cx="229537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 future bills with actionable energy-saving recommendations.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613868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six-layer architecture ensures modularity, scalability, and intelligent prediction delivery — from user interaction to cloud-hosted ML inference.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773290"/>
            <a:ext cx="2011338" cy="4627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586" y="4853657"/>
            <a:ext cx="18125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Presentation Layer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614586" y="4985593"/>
            <a:ext cx="181250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Web and mobile interfaces for users and administrators.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2877" y="4773290"/>
            <a:ext cx="2011412" cy="4627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661345" y="4853657"/>
            <a:ext cx="18125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Application Layer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2661345" y="4985593"/>
            <a:ext cx="181257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REST APIs, authentication, and business logic orchestration.</a:t>
            </a:r>
            <a:endParaRPr lang="en-US" sz="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9711" y="4773290"/>
            <a:ext cx="2011338" cy="4627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08178" y="4853657"/>
            <a:ext cx="18125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ML Prediction Layer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4708178" y="4985593"/>
            <a:ext cx="181250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Regression models, feature engineering, and tariff calculation.</a:t>
            </a:r>
            <a:endParaRPr lang="en-US" sz="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6469" y="4773290"/>
            <a:ext cx="2011412" cy="46278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54937" y="4853657"/>
            <a:ext cx="18125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Database Layer</a:t>
            </a:r>
            <a:endParaRPr lang="en-US" sz="650" dirty="0"/>
          </a:p>
        </p:txBody>
      </p:sp>
      <p:sp>
        <p:nvSpPr>
          <p:cNvPr id="16" name="Text 9"/>
          <p:cNvSpPr/>
          <p:nvPr/>
        </p:nvSpPr>
        <p:spPr>
          <a:xfrm>
            <a:off x="6754937" y="4985593"/>
            <a:ext cx="181257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Time-series energy data, user profiles, and prediction history.</a:t>
            </a:r>
            <a:endParaRPr lang="en-US" sz="5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5271492"/>
            <a:ext cx="2011338" cy="4627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4586" y="5351859"/>
            <a:ext cx="18125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Cloud Infrastructure</a:t>
            </a:r>
            <a:endParaRPr lang="en-US" sz="650" dirty="0"/>
          </a:p>
        </p:txBody>
      </p:sp>
      <p:sp>
        <p:nvSpPr>
          <p:cNvPr id="19" name="Text 11"/>
          <p:cNvSpPr/>
          <p:nvPr/>
        </p:nvSpPr>
        <p:spPr>
          <a:xfrm>
            <a:off x="614586" y="5483796"/>
            <a:ext cx="181250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Scalable hosting, containerization, and automated deployment.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Complete System Workflow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9012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Bill &amp; Tariff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Train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Feature Extract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Signup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pipeline operates as a continuous feedback loop — each new billing cycle enriches the training dataset, improving prediction accuracy and recommendation relevance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006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Machine Learning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92634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Regression Algorithms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56817"/>
            <a:ext cx="1887662" cy="489124"/>
          </a:xfrm>
          <a:prstGeom prst="roundRect">
            <a:avLst>
              <a:gd name="adj" fmla="val 25270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633413" y="1694111"/>
            <a:ext cx="16130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16758" y="1556817"/>
            <a:ext cx="1887736" cy="489124"/>
          </a:xfrm>
          <a:prstGeom prst="roundRect">
            <a:avLst>
              <a:gd name="adj" fmla="val 25270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2654052" y="1694111"/>
            <a:ext cx="16131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2178918"/>
            <a:ext cx="1887662" cy="489124"/>
          </a:xfrm>
          <a:prstGeom prst="roundRect">
            <a:avLst>
              <a:gd name="adj" fmla="val 25270"/>
            </a:avLst>
          </a:prstGeom>
          <a:solidFill>
            <a:srgbClr val="E8F3E8"/>
          </a:solidFill>
          <a:ln/>
        </p:spPr>
      </p:sp>
      <p:sp>
        <p:nvSpPr>
          <p:cNvPr id="9" name="Text 7"/>
          <p:cNvSpPr/>
          <p:nvPr/>
        </p:nvSpPr>
        <p:spPr>
          <a:xfrm>
            <a:off x="633413" y="2316212"/>
            <a:ext cx="16130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516758" y="2178918"/>
            <a:ext cx="1887736" cy="489124"/>
          </a:xfrm>
          <a:prstGeom prst="roundRect">
            <a:avLst>
              <a:gd name="adj" fmla="val 25270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2654052" y="2316212"/>
            <a:ext cx="16131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2801020"/>
            <a:ext cx="1887662" cy="489124"/>
          </a:xfrm>
          <a:prstGeom prst="roundRect">
            <a:avLst>
              <a:gd name="adj" fmla="val 25270"/>
            </a:avLst>
          </a:prstGeom>
          <a:solidFill>
            <a:srgbClr val="E8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633413" y="2938314"/>
            <a:ext cx="16130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SVR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516758" y="2801020"/>
            <a:ext cx="1887736" cy="489124"/>
          </a:xfrm>
          <a:prstGeom prst="roundRect">
            <a:avLst>
              <a:gd name="adj" fmla="val 25270"/>
            </a:avLst>
          </a:prstGeom>
          <a:solidFill>
            <a:srgbClr val="E8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2654052" y="2938314"/>
            <a:ext cx="16131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XGBoost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44269" y="1192634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Evaluation Metrics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44269" y="1556817"/>
            <a:ext cx="1887662" cy="1092845"/>
          </a:xfrm>
          <a:prstGeom prst="roundRect">
            <a:avLst>
              <a:gd name="adj" fmla="val 11310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0613" y="1713161"/>
            <a:ext cx="15749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00613" y="2060674"/>
            <a:ext cx="157497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 Absolute Error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4908" y="1556817"/>
            <a:ext cx="1887736" cy="1092845"/>
          </a:xfrm>
          <a:prstGeom prst="roundRect">
            <a:avLst>
              <a:gd name="adj" fmla="val 11310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1252" y="1713161"/>
            <a:ext cx="15750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RMSE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21252" y="2060674"/>
            <a:ext cx="157504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Root Mean Squared Error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44269" y="2782639"/>
            <a:ext cx="1887662" cy="876523"/>
          </a:xfrm>
          <a:prstGeom prst="roundRect">
            <a:avLst>
              <a:gd name="adj" fmla="val 14102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0613" y="2938983"/>
            <a:ext cx="15749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R² Score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900613" y="3286497"/>
            <a:ext cx="157497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fit quality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4908" y="2782639"/>
            <a:ext cx="1887736" cy="876523"/>
          </a:xfrm>
          <a:prstGeom prst="roundRect">
            <a:avLst>
              <a:gd name="adj" fmla="val 14102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21252" y="2938983"/>
            <a:ext cx="15750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Response Time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21252" y="3286497"/>
            <a:ext cx="157504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Inference latency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6119" y="3958456"/>
            <a:ext cx="8151763" cy="753963"/>
          </a:xfrm>
          <a:prstGeom prst="roundRect">
            <a:avLst>
              <a:gd name="adj" fmla="val 16394"/>
            </a:avLst>
          </a:prstGeom>
          <a:solidFill>
            <a:srgbClr val="DDEEE0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3" y="4152751"/>
            <a:ext cx="171599" cy="13729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42305" y="4125739"/>
            <a:ext cx="756828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Models are retrained on a scheduled basis with fresh consumption data, ensuring predictions adapt to seasonal shifts and evolving user behavior.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6925"/>
            <a:ext cx="4722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860747"/>
            <a:ext cx="217066" cy="2170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181621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496119" y="1400994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React.js / Angular, D3.js &amp; Chart.js for interactive energy dashboards and consumption visualizations.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873746"/>
            <a:ext cx="217066" cy="217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2194620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Backend &amp; APIs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496119" y="2413992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(Flask/FastAPI), Node.js, RESTful APIs with JWT authentication and role-based access control.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886745"/>
            <a:ext cx="217066" cy="2170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3207618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&amp; ML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496119" y="3426991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PostgreSQL, Redis, Scikit-learn, XGBoost, TensorFlow — time-series storage and regression modeling.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899743"/>
            <a:ext cx="217066" cy="2170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6119" y="4220617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Cloud &amp; DevOps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496119" y="4439989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AWS / Azure, Docker, Kubernetes, CI/CD pipelines for scalable, high-availability deployment.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900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Advantages &amp; Real-World Applications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58242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366317"/>
            <a:ext cx="274067" cy="274067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874812" y="1408137"/>
            <a:ext cx="35485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Accurate Forecasting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74812" y="1703115"/>
            <a:ext cx="354858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Bill predictions with measurable MAE/RMSE benchmarks.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2093640"/>
            <a:ext cx="274067" cy="274067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</p:sp>
      <p:sp>
        <p:nvSpPr>
          <p:cNvPr id="8" name="Text 6"/>
          <p:cNvSpPr/>
          <p:nvPr/>
        </p:nvSpPr>
        <p:spPr>
          <a:xfrm>
            <a:off x="874812" y="2135460"/>
            <a:ext cx="35485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Financial Planning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4812" y="2430438"/>
            <a:ext cx="35485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Households budget with confidence before the billing cycle ends.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3002161"/>
            <a:ext cx="274067" cy="274067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874812" y="3043982"/>
            <a:ext cx="35485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Personalized Savings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4812" y="3338959"/>
            <a:ext cx="35485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Appliance-level recommendations reduce consumption and costs.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910682"/>
            <a:ext cx="274067" cy="274067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</p:sp>
      <p:sp>
        <p:nvSpPr>
          <p:cNvPr id="14" name="Text 12"/>
          <p:cNvSpPr/>
          <p:nvPr/>
        </p:nvSpPr>
        <p:spPr>
          <a:xfrm>
            <a:off x="874812" y="3952503"/>
            <a:ext cx="35485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Sustainability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4812" y="4247480"/>
            <a:ext cx="35485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Encourages reduced usage and supports carbon footprint awareness.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25367" y="1058242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Where It Applies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25367" y="1366317"/>
            <a:ext cx="1911325" cy="629096"/>
          </a:xfrm>
          <a:prstGeom prst="roundRect">
            <a:avLst>
              <a:gd name="adj" fmla="val 17429"/>
            </a:avLst>
          </a:prstGeom>
          <a:solidFill>
            <a:srgbClr val="E8F3E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7183" y="1488132"/>
            <a:ext cx="1667694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Households &amp; Smart Homes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41319" y="1366317"/>
            <a:ext cx="1911325" cy="629096"/>
          </a:xfrm>
          <a:prstGeom prst="roundRect">
            <a:avLst>
              <a:gd name="adj" fmla="val 17429"/>
            </a:avLst>
          </a:prstGeom>
          <a:solidFill>
            <a:srgbClr val="E8F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863135" y="1488132"/>
            <a:ext cx="1667694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Commercial Buildings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25367" y="2100039"/>
            <a:ext cx="1911325" cy="629096"/>
          </a:xfrm>
          <a:prstGeom prst="roundRect">
            <a:avLst>
              <a:gd name="adj" fmla="val 17429"/>
            </a:avLst>
          </a:prstGeom>
          <a:solidFill>
            <a:srgbClr val="E8F3E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7183" y="2221855"/>
            <a:ext cx="1667694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Utility Companies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41319" y="2100039"/>
            <a:ext cx="1911325" cy="629096"/>
          </a:xfrm>
          <a:prstGeom prst="roundRect">
            <a:avLst>
              <a:gd name="adj" fmla="val 17429"/>
            </a:avLst>
          </a:prstGeom>
          <a:solidFill>
            <a:srgbClr val="E8F3E8"/>
          </a:solidFill>
          <a:ln/>
        </p:spPr>
      </p:sp>
      <p:sp>
        <p:nvSpPr>
          <p:cNvPr id="24" name="Text 22"/>
          <p:cNvSpPr/>
          <p:nvPr/>
        </p:nvSpPr>
        <p:spPr>
          <a:xfrm>
            <a:off x="6863135" y="2221855"/>
            <a:ext cx="1667694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🏭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Industrial Facilities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25367" y="2833762"/>
            <a:ext cx="1911325" cy="629096"/>
          </a:xfrm>
          <a:prstGeom prst="roundRect">
            <a:avLst>
              <a:gd name="adj" fmla="val 17429"/>
            </a:avLst>
          </a:prstGeom>
          <a:solidFill>
            <a:srgbClr val="E8F3E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7183" y="2955578"/>
            <a:ext cx="1667694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Educational Institutions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41319" y="2833762"/>
            <a:ext cx="1911325" cy="629096"/>
          </a:xfrm>
          <a:prstGeom prst="roundRect">
            <a:avLst>
              <a:gd name="adj" fmla="val 17429"/>
            </a:avLst>
          </a:prstGeom>
          <a:solidFill>
            <a:srgbClr val="E8F3E8"/>
          </a:solidFill>
          <a:ln/>
        </p:spPr>
      </p:sp>
      <p:sp>
        <p:nvSpPr>
          <p:cNvPr id="28" name="Text 26"/>
          <p:cNvSpPr/>
          <p:nvPr/>
        </p:nvSpPr>
        <p:spPr>
          <a:xfrm>
            <a:off x="6863135" y="2955578"/>
            <a:ext cx="1667694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🌆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Smart City Initiatives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7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Challenges &amp; How We Address Them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30275"/>
            <a:ext cx="4004965" cy="173384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2263" y="1255588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6927" y="1716360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Quality &amp; Gaps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6927" y="2022872"/>
            <a:ext cx="36833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or inconsistent meter data is handled through imputation algorithms, outlier detection, and smart meter validation protocols.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1130275"/>
            <a:ext cx="4005039" cy="173384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9061" y="1255588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803651" y="1716360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Variable Tariff Structures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4803651" y="2022872"/>
            <a:ext cx="3683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Dynamic tariff modules support time-of-use rates, slab-based pricing, and regional regulatory differences across utility providers.</a:t>
            </a:r>
            <a:endParaRPr lang="en-US" sz="11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733848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92263" y="3131195"/>
            <a:ext cx="212601" cy="21260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56927" y="3591967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Seasonal Fluctuations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656927" y="3898478"/>
            <a:ext cx="36833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Seasonal feature encoding and cyclical pattern recognition ensure models account for heating, cooling, and holiday consumption spikes.</a:t>
            </a:r>
            <a:endParaRPr lang="en-US" sz="11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733848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9061" y="3131195"/>
            <a:ext cx="212601" cy="21260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803651" y="3591967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Privacy &amp; Security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4803651" y="3898478"/>
            <a:ext cx="3683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encryption, GDPR-compliant data handling, and anonymized aggregation protect user consumption data at every layer.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6484"/>
            <a:ext cx="4722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Road Ahead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96119" y="898327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system's roadmap extends predictive intelligence into real-time, IoT-connected, and sustainability-focused energy ecosystems.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615702" y="1285652"/>
            <a:ext cx="14288" cy="2670646"/>
          </a:xfrm>
          <a:prstGeom prst="roundRect">
            <a:avLst>
              <a:gd name="adj" fmla="val 49998"/>
            </a:avLst>
          </a:prstGeom>
          <a:solidFill>
            <a:srgbClr val="CED9CE"/>
          </a:solidFill>
          <a:ln/>
        </p:spPr>
      </p:sp>
      <p:sp>
        <p:nvSpPr>
          <p:cNvPr id="6" name="Shape 3"/>
          <p:cNvSpPr/>
          <p:nvPr/>
        </p:nvSpPr>
        <p:spPr>
          <a:xfrm>
            <a:off x="720998" y="1398091"/>
            <a:ext cx="318939" cy="14288"/>
          </a:xfrm>
          <a:prstGeom prst="roundRect">
            <a:avLst>
              <a:gd name="adj" fmla="val 49998"/>
            </a:avLst>
          </a:prstGeom>
          <a:solidFill>
            <a:srgbClr val="CED9CE"/>
          </a:solidFill>
          <a:ln/>
        </p:spPr>
      </p:sp>
      <p:sp>
        <p:nvSpPr>
          <p:cNvPr id="7" name="Shape 4"/>
          <p:cNvSpPr/>
          <p:nvPr/>
        </p:nvSpPr>
        <p:spPr>
          <a:xfrm>
            <a:off x="496119" y="1285652"/>
            <a:ext cx="239167" cy="239167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535967" y="1305558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7316" y="1322189"/>
            <a:ext cx="407156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7316" y="1536055"/>
            <a:ext cx="407156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 forecasting (LSTM/Transformer models) and real-time smart meter integration.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20998" y="2105620"/>
            <a:ext cx="318939" cy="14288"/>
          </a:xfrm>
          <a:prstGeom prst="roundRect">
            <a:avLst>
              <a:gd name="adj" fmla="val 49998"/>
            </a:avLst>
          </a:prstGeom>
          <a:solidFill>
            <a:srgbClr val="CED9CE"/>
          </a:solidFill>
          <a:ln/>
        </p:spPr>
      </p:sp>
      <p:sp>
        <p:nvSpPr>
          <p:cNvPr id="12" name="Shape 9"/>
          <p:cNvSpPr/>
          <p:nvPr/>
        </p:nvSpPr>
        <p:spPr>
          <a:xfrm>
            <a:off x="496119" y="1993181"/>
            <a:ext cx="239167" cy="239167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535967" y="2013086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47316" y="2029718"/>
            <a:ext cx="407156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7316" y="2243584"/>
            <a:ext cx="407156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IoT-enabled appliance-level monitoring, renewable energy optimization, and carbon footprint estimation.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20998" y="2813149"/>
            <a:ext cx="318939" cy="14288"/>
          </a:xfrm>
          <a:prstGeom prst="roundRect">
            <a:avLst>
              <a:gd name="adj" fmla="val 49998"/>
            </a:avLst>
          </a:prstGeom>
          <a:solidFill>
            <a:srgbClr val="CED9CE"/>
          </a:solidFill>
          <a:ln/>
        </p:spPr>
      </p:sp>
      <p:sp>
        <p:nvSpPr>
          <p:cNvPr id="17" name="Shape 14"/>
          <p:cNvSpPr/>
          <p:nvPr/>
        </p:nvSpPr>
        <p:spPr>
          <a:xfrm>
            <a:off x="496119" y="2700710"/>
            <a:ext cx="239167" cy="239167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</p:sp>
      <p:sp>
        <p:nvSpPr>
          <p:cNvPr id="18" name="Text 15"/>
          <p:cNvSpPr/>
          <p:nvPr/>
        </p:nvSpPr>
        <p:spPr>
          <a:xfrm>
            <a:off x="535967" y="2720615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47316" y="2737247"/>
            <a:ext cx="407156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7316" y="2951113"/>
            <a:ext cx="407156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Mobile applications, voice-enabled assistants, dynamic tariff forecasting, and smart home automation integration.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20998" y="3520678"/>
            <a:ext cx="318939" cy="14288"/>
          </a:xfrm>
          <a:prstGeom prst="roundRect">
            <a:avLst>
              <a:gd name="adj" fmla="val 49998"/>
            </a:avLst>
          </a:prstGeom>
          <a:solidFill>
            <a:srgbClr val="CED9CE"/>
          </a:solidFill>
          <a:ln/>
        </p:spPr>
      </p:sp>
      <p:sp>
        <p:nvSpPr>
          <p:cNvPr id="22" name="Shape 19"/>
          <p:cNvSpPr/>
          <p:nvPr/>
        </p:nvSpPr>
        <p:spPr>
          <a:xfrm>
            <a:off x="496119" y="3408238"/>
            <a:ext cx="239167" cy="239167"/>
          </a:xfrm>
          <a:prstGeom prst="roundRect">
            <a:avLst>
              <a:gd name="adj" fmla="val 40011"/>
            </a:avLst>
          </a:prstGeom>
          <a:solidFill>
            <a:srgbClr val="E8F3E8"/>
          </a:solidFill>
          <a:ln/>
        </p:spPr>
      </p:sp>
      <p:sp>
        <p:nvSpPr>
          <p:cNvPr id="23" name="Text 20"/>
          <p:cNvSpPr/>
          <p:nvPr/>
        </p:nvSpPr>
        <p:spPr>
          <a:xfrm>
            <a:off x="535967" y="3428144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47316" y="3444776"/>
            <a:ext cx="407156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Phase 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47316" y="3658642"/>
            <a:ext cx="407156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Cloud-native, multi-tenant platform for utility providers and smart city energy management ecosystems.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96119" y="4045967"/>
            <a:ext cx="4722763" cy="651049"/>
          </a:xfrm>
          <a:prstGeom prst="roundRect">
            <a:avLst>
              <a:gd name="adj" fmla="val 14698"/>
            </a:avLst>
          </a:prstGeom>
          <a:solidFill>
            <a:srgbClr val="B6FCB8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82" y="4190554"/>
            <a:ext cx="132904" cy="10626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41549" y="4152230"/>
            <a:ext cx="4271070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system transforms electricity billing from a reactive surprise into a proactive, intelligent tool — empowering consumers, utilities, and cities to manage energy with confidence.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2026-07-28T05:18:33Z</dcterms:created>
  <dcterms:modified xsi:type="dcterms:W3CDTF">2026-07-28T05:18:33Z</dcterms:modified>
</cp:coreProperties>
</file>